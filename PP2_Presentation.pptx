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286000"/>
            <a:ext cx="12191695" cy="2743200"/>
          </a:xfrm>
          <a:prstGeom prst="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286000"/>
            <a:ext cx="12191695" cy="54864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73152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8888AA"/>
                </a:solidFill>
                <a:latin typeface="Segoe UI"/>
              </a:defRPr>
            </a:pPr>
            <a:r>
              <a:t>PP2 — Python Programming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5603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200" b="1">
                <a:solidFill>
                  <a:srgbClr val="FFFFFF"/>
                </a:solidFill>
                <a:latin typeface="Segoe UI"/>
              </a:defRPr>
            </a:pPr>
            <a:r>
              <a:t>Курсовая работа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6576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00D2FF"/>
                </a:solidFill>
                <a:latin typeface="Segoe UI"/>
              </a:defRPr>
            </a:pPr>
            <a:r>
              <a:t>Practice 11  ·  TSIS 1–4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486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8888AA"/>
                </a:solidFill>
                <a:latin typeface="Segoe UI"/>
              </a:defRPr>
            </a:pPr>
            <a:r>
              <a:t>Али Какенов  |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Содержание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1828800" cy="36576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BBBBCC"/>
                </a:solidFill>
                <a:latin typeface="Segoe UI"/>
              </a:defRPr>
            </a:pPr>
            <a:r>
              <a:t>▸  Practice 11 — Racer (гонки с монетами)</a:t>
            </a:r>
          </a:p>
          <a:p>
            <a:pPr>
              <a:spcAft>
                <a:spcPts val="600"/>
              </a:spcAft>
              <a:defRPr sz="1600">
                <a:solidFill>
                  <a:srgbClr val="BBBBCC"/>
                </a:solidFill>
                <a:latin typeface="Segoe UI"/>
              </a:defRPr>
            </a:pPr>
            <a:r>
              <a:t>▸  Practice 11 — Snake (змейка с исчезающей едой)</a:t>
            </a:r>
          </a:p>
          <a:p>
            <a:pPr>
              <a:spcAft>
                <a:spcPts val="600"/>
              </a:spcAft>
              <a:defRPr sz="1600">
                <a:solidFill>
                  <a:srgbClr val="BBBBCC"/>
                </a:solidFill>
                <a:latin typeface="Segoe UI"/>
              </a:defRPr>
            </a:pPr>
            <a:r>
              <a:t>▸  Practice 11 — Paint (рисовалка с фигурами)</a:t>
            </a:r>
          </a:p>
          <a:p>
            <a:pPr>
              <a:spcAft>
                <a:spcPts val="600"/>
              </a:spcAft>
              <a:defRPr sz="1600">
                <a:solidFill>
                  <a:srgbClr val="BBBBCC"/>
                </a:solidFill>
                <a:latin typeface="Segoe UI"/>
              </a:defRPr>
            </a:pPr>
            <a:r>
              <a:t>▸  TSIS 1 — PhoneBook (телефонная книга + PostgreSQL)</a:t>
            </a:r>
          </a:p>
          <a:p>
            <a:pPr>
              <a:spcAft>
                <a:spcPts val="600"/>
              </a:spcAft>
              <a:defRPr sz="1600">
                <a:solidFill>
                  <a:srgbClr val="BBBBCC"/>
                </a:solidFill>
                <a:latin typeface="Segoe UI"/>
              </a:defRPr>
            </a:pPr>
            <a:r>
              <a:t>▸  TSIS 2 — Paint Extended (заливка, текст, сохранение)</a:t>
            </a:r>
          </a:p>
          <a:p>
            <a:pPr>
              <a:spcAft>
                <a:spcPts val="600"/>
              </a:spcAft>
              <a:defRPr sz="1600">
                <a:solidFill>
                  <a:srgbClr val="BBBBCC"/>
                </a:solidFill>
                <a:latin typeface="Segoe UI"/>
              </a:defRPr>
            </a:pPr>
            <a:r>
              <a:t>▸  TSIS 3 — Racer Advanced (трафик, усиления, лидерборд)</a:t>
            </a:r>
          </a:p>
          <a:p>
            <a:pPr>
              <a:spcAft>
                <a:spcPts val="600"/>
              </a:spcAft>
              <a:defRPr sz="1600">
                <a:solidFill>
                  <a:srgbClr val="BBBBCC"/>
                </a:solidFill>
                <a:latin typeface="Segoe UI"/>
              </a:defRPr>
            </a:pPr>
            <a:r>
              <a:t>▸  TSIS 4 — Snake + Database (змейка с PostgreSQL)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  <a:latin typeface="Segoe UI"/>
              </a:defRPr>
            </a:pPr>
            <a:r>
              <a:t>Practice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3832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8888AA"/>
                </a:solidFill>
                <a:latin typeface="Segoe UI"/>
              </a:defRPr>
            </a:pPr>
            <a:r>
              <a:t>Расширение игр из Practice 10 — Racer, Snake, Paint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Practice 11 — Racer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1828800" cy="36576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BBBBCC"/>
                </a:solidFill>
                <a:latin typeface="Segoe UI"/>
              </a:defRPr>
            </a:pPr>
            <a:r>
              <a:t>▸  3 типа монет: бронза (1), серебро (3), золото (5)</a:t>
            </a:r>
          </a:p>
          <a:p>
            <a:pPr>
              <a:spcAft>
                <a:spcPts val="600"/>
              </a:spcAft>
              <a:defRPr sz="1600">
                <a:solidFill>
                  <a:srgbClr val="BBBBCC"/>
                </a:solidFill>
                <a:latin typeface="Segoe UI"/>
              </a:defRPr>
            </a:pPr>
            <a:r>
              <a:t>▸  Вероятности: 60% / 30% / 10%</a:t>
            </a:r>
          </a:p>
          <a:p>
            <a:pPr>
              <a:spcAft>
                <a:spcPts val="600"/>
              </a:spcAft>
              <a:defRPr sz="1600">
                <a:solidFill>
                  <a:srgbClr val="BBBBCC"/>
                </a:solidFill>
                <a:latin typeface="Segoe UI"/>
              </a:defRPr>
            </a:pPr>
            <a:r>
              <a:t>▸  Скорость врага ↑ каждые 5 собранных очков</a:t>
            </a:r>
          </a:p>
          <a:p>
            <a:pPr>
              <a:spcAft>
                <a:spcPts val="600"/>
              </a:spcAft>
              <a:defRPr sz="1600">
                <a:solidFill>
                  <a:srgbClr val="BBBBCC"/>
                </a:solidFill>
                <a:latin typeface="Segoe UI"/>
              </a:defRPr>
            </a:pPr>
            <a:r>
              <a:t>▸  Безопасный спавн — inflate() зона</a:t>
            </a:r>
          </a:p>
          <a:p>
            <a:pPr>
              <a:spcAft>
                <a:spcPts val="600"/>
              </a:spcAft>
              <a:defRPr sz="1600">
                <a:solidFill>
                  <a:srgbClr val="BBBBCC"/>
                </a:solidFill>
                <a:latin typeface="Segoe UI"/>
              </a:defRPr>
            </a:pPr>
            <a:r>
              <a:t>▸  Увеличенный хитбокс для удобного подбора</a:t>
            </a:r>
          </a:p>
          <a:p>
            <a:pPr>
              <a:spcAft>
                <a:spcPts val="600"/>
              </a:spcAft>
              <a:defRPr sz="1600">
                <a:solidFill>
                  <a:srgbClr val="BBBBCC"/>
                </a:solidFill>
                <a:latin typeface="Segoe UI"/>
              </a:defRPr>
            </a:pPr>
            <a:r>
              <a:t>▸  Тихий звук монеты (40% громкости)</a:t>
            </a:r>
          </a:p>
          <a:p>
            <a:pPr>
              <a:spcAft>
                <a:spcPts val="600"/>
              </a:spcAft>
              <a:defRPr sz="1600">
                <a:solidFill>
                  <a:srgbClr val="BBBBCC"/>
                </a:solidFill>
                <a:latin typeface="Segoe UI"/>
              </a:defRPr>
            </a:pPr>
            <a:r>
              <a:t>▸  Экран Game Over с Restart / Quit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0" y="1371600"/>
            <a:ext cx="5303520" cy="4572000"/>
          </a:xfrm>
          <a:prstGeom prst="rect">
            <a:avLst/>
          </a:prstGeom>
          <a:solidFill>
            <a:srgbClr val="0D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508760"/>
            <a:ext cx="49377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80FF80"/>
                </a:solidFill>
                <a:latin typeface="Consolas"/>
              </a:defRPr>
            </a:pPr>
            <a:r>
              <a:t># типы монет</a:t>
            </a:r>
          </a:p>
          <a:p>
            <a:pPr>
              <a:spcAft>
                <a:spcPts val="200"/>
              </a:spcAft>
              <a:defRPr sz="1100">
                <a:solidFill>
                  <a:srgbClr val="80FF80"/>
                </a:solidFill>
                <a:latin typeface="Consolas"/>
              </a:defRPr>
            </a:pPr>
            <a:r>
              <a:t>COIN_TYPES = [</a:t>
            </a:r>
          </a:p>
          <a:p>
            <a:pPr>
              <a:spcAft>
                <a:spcPts val="200"/>
              </a:spcAft>
              <a:defRPr sz="1100">
                <a:solidFill>
                  <a:srgbClr val="80FF80"/>
                </a:solidFill>
                <a:latin typeface="Consolas"/>
              </a:defRPr>
            </a:pPr>
            <a:r>
              <a:t>  {"color":(205,127,50),</a:t>
            </a:r>
          </a:p>
          <a:p>
            <a:pPr>
              <a:spcAft>
                <a:spcPts val="200"/>
              </a:spcAft>
              <a:defRPr sz="1100">
                <a:solidFill>
                  <a:srgbClr val="80FF80"/>
                </a:solidFill>
                <a:latin typeface="Consolas"/>
              </a:defRPr>
            </a:pPr>
            <a:r>
              <a:t>   "value":1, "radius":8},  # бронза</a:t>
            </a:r>
          </a:p>
          <a:p>
            <a:pPr>
              <a:spcAft>
                <a:spcPts val="200"/>
              </a:spcAft>
              <a:defRPr sz="1100">
                <a:solidFill>
                  <a:srgbClr val="80FF80"/>
                </a:solidFill>
                <a:latin typeface="Consolas"/>
              </a:defRPr>
            </a:pPr>
            <a:r>
              <a:t>  {"color":(192,192,192),</a:t>
            </a:r>
          </a:p>
          <a:p>
            <a:pPr>
              <a:spcAft>
                <a:spcPts val="200"/>
              </a:spcAft>
              <a:defRPr sz="1100">
                <a:solidFill>
                  <a:srgbClr val="80FF80"/>
                </a:solidFill>
                <a:latin typeface="Consolas"/>
              </a:defRPr>
            </a:pPr>
            <a:r>
              <a:t>   "value":3, "radius":10}, # серебро</a:t>
            </a:r>
          </a:p>
          <a:p>
            <a:pPr>
              <a:spcAft>
                <a:spcPts val="200"/>
              </a:spcAft>
              <a:defRPr sz="1100">
                <a:solidFill>
                  <a:srgbClr val="80FF80"/>
                </a:solidFill>
                <a:latin typeface="Consolas"/>
              </a:defRPr>
            </a:pPr>
            <a:r>
              <a:t>  {"color":(255,215,0),</a:t>
            </a:r>
          </a:p>
          <a:p>
            <a:pPr>
              <a:spcAft>
                <a:spcPts val="200"/>
              </a:spcAft>
              <a:defRPr sz="1100">
                <a:solidFill>
                  <a:srgbClr val="80FF80"/>
                </a:solidFill>
                <a:latin typeface="Consolas"/>
              </a:defRPr>
            </a:pPr>
            <a:r>
              <a:t>   "value":5, "radius":12}, # золото</a:t>
            </a:r>
          </a:p>
          <a:p>
            <a:pPr>
              <a:spcAft>
                <a:spcPts val="200"/>
              </a:spcAft>
              <a:defRPr sz="1100">
                <a:solidFill>
                  <a:srgbClr val="80FF80"/>
                </a:solidFill>
                <a:latin typeface="Consolas"/>
              </a:defRPr>
            </a:pPr>
            <a:r>
              <a:t>]</a:t>
            </a:r>
          </a:p>
          <a:p>
            <a:pPr>
              <a:spcAft>
                <a:spcPts val="200"/>
              </a:spcAft>
              <a:defRPr sz="1100">
                <a:solidFill>
                  <a:srgbClr val="80FF80"/>
                </a:solidFill>
                <a:latin typeface="Consolas"/>
              </a:defRPr>
            </a:pPr>
            <a:r>
              <a:t>COIN_WEIGHTS = [60, 30, 10]</a:t>
            </a:r>
          </a:p>
          <a:p>
            <a:pPr>
              <a:spcAft>
                <a:spcPts val="200"/>
              </a:spcAft>
              <a:defRPr sz="1100">
                <a:solidFill>
                  <a:srgbClr val="80FF80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80FF80"/>
                </a:solidFill>
                <a:latin typeface="Consolas"/>
              </a:defRPr>
            </a:pPr>
            <a:r>
              <a:t># случайный выбор</a:t>
            </a:r>
          </a:p>
          <a:p>
            <a:pPr>
              <a:spcAft>
                <a:spcPts val="200"/>
              </a:spcAft>
              <a:defRPr sz="1100">
                <a:solidFill>
                  <a:srgbClr val="80FF80"/>
                </a:solidFill>
                <a:latin typeface="Consolas"/>
              </a:defRPr>
            </a:pPr>
            <a:r>
              <a:t>coin = random.choices(</a:t>
            </a:r>
          </a:p>
          <a:p>
            <a:pPr>
              <a:spcAft>
                <a:spcPts val="200"/>
              </a:spcAft>
              <a:defRPr sz="1100">
                <a:solidFill>
                  <a:srgbClr val="80FF80"/>
                </a:solidFill>
                <a:latin typeface="Consolas"/>
              </a:defRPr>
            </a:pPr>
            <a:r>
              <a:t>    COIN_TYPES,</a:t>
            </a:r>
          </a:p>
          <a:p>
            <a:pPr>
              <a:spcAft>
                <a:spcPts val="200"/>
              </a:spcAft>
              <a:defRPr sz="1100">
                <a:solidFill>
                  <a:srgbClr val="80FF80"/>
                </a:solidFill>
                <a:latin typeface="Consolas"/>
              </a:defRPr>
            </a:pPr>
            <a:r>
              <a:t>    weights=COIN_WEIGHTS, k=1)[0]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Practice 11 — Snake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1828800" cy="36576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BBBBCC"/>
                </a:solidFill>
                <a:latin typeface="Segoe UI"/>
              </a:defRPr>
            </a:pPr>
            <a:r>
              <a:t>▸  3 типа еды: красная (10), оранжевая (20), золотая (50)</a:t>
            </a:r>
          </a:p>
          <a:p>
            <a:pPr>
              <a:spcAft>
                <a:spcPts val="600"/>
              </a:spcAft>
              <a:defRPr sz="1600">
                <a:solidFill>
                  <a:srgbClr val="BBBBCC"/>
                </a:solidFill>
                <a:latin typeface="Segoe UI"/>
              </a:defRPr>
            </a:pPr>
            <a:r>
              <a:t>▸  Исчезающая еда — таймер 8/6/4 секунды</a:t>
            </a:r>
          </a:p>
          <a:p>
            <a:pPr>
              <a:spcAft>
                <a:spcPts val="600"/>
              </a:spcAft>
              <a:defRPr sz="1600">
                <a:solidFill>
                  <a:srgbClr val="BBBBCC"/>
                </a:solidFill>
                <a:latin typeface="Segoe UI"/>
              </a:defRPr>
            </a:pPr>
            <a:r>
              <a:t>▸  Цветная полоска таймера под едой</a:t>
            </a:r>
          </a:p>
          <a:p>
            <a:pPr>
              <a:spcAft>
                <a:spcPts val="600"/>
              </a:spcAft>
              <a:defRPr sz="1600">
                <a:solidFill>
                  <a:srgbClr val="BBBBCC"/>
                </a:solidFill>
                <a:latin typeface="Segoe UI"/>
              </a:defRPr>
            </a:pPr>
            <a:r>
              <a:t>▸  Каждые 3 еды = +1 уровень, +1 скорость</a:t>
            </a:r>
          </a:p>
          <a:p>
            <a:pPr>
              <a:spcAft>
                <a:spcPts val="600"/>
              </a:spcAft>
              <a:defRPr sz="1600">
                <a:solidFill>
                  <a:srgbClr val="BBBBCC"/>
                </a:solidFill>
                <a:latin typeface="Segoe UI"/>
              </a:defRPr>
            </a:pPr>
            <a:r>
              <a:t>▸  Генерация еды не на змейке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0" y="1371600"/>
            <a:ext cx="5303520" cy="4572000"/>
          </a:xfrm>
          <a:prstGeom prst="rect">
            <a:avLst/>
          </a:prstGeom>
          <a:solidFill>
            <a:srgbClr val="0D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508760"/>
            <a:ext cx="49377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80FF80"/>
                </a:solidFill>
                <a:latin typeface="Consolas"/>
              </a:defRPr>
            </a:pPr>
            <a:r>
              <a:t># исчезающая еда</a:t>
            </a:r>
          </a:p>
          <a:p>
            <a:pPr>
              <a:spcAft>
                <a:spcPts val="200"/>
              </a:spcAft>
              <a:defRPr sz="1100">
                <a:solidFill>
                  <a:srgbClr val="80FF80"/>
                </a:solidFill>
                <a:latin typeface="Consolas"/>
              </a:defRPr>
            </a:pPr>
            <a:r>
              <a:t>elapsed = current_time - food_spawn_time</a:t>
            </a:r>
          </a:p>
          <a:p>
            <a:pPr>
              <a:spcAft>
                <a:spcPts val="200"/>
              </a:spcAft>
              <a:defRPr sz="1100">
                <a:solidFill>
                  <a:srgbClr val="80FF80"/>
                </a:solidFill>
                <a:latin typeface="Consolas"/>
              </a:defRPr>
            </a:pPr>
            <a:r>
              <a:t>if elapsed &gt;= food_type["lifetime_ms"]:</a:t>
            </a:r>
          </a:p>
          <a:p>
            <a:pPr>
              <a:spcAft>
                <a:spcPts val="200"/>
              </a:spcAft>
              <a:defRPr sz="1100">
                <a:solidFill>
                  <a:srgbClr val="80FF80"/>
                </a:solidFill>
                <a:latin typeface="Consolas"/>
              </a:defRPr>
            </a:pPr>
            <a:r>
              <a:t>    food_pos = generate_food(snake)</a:t>
            </a:r>
          </a:p>
          <a:p>
            <a:pPr>
              <a:spcAft>
                <a:spcPts val="200"/>
              </a:spcAft>
              <a:defRPr sz="1100">
                <a:solidFill>
                  <a:srgbClr val="80FF80"/>
                </a:solidFill>
                <a:latin typeface="Consolas"/>
              </a:defRPr>
            </a:pPr>
            <a:r>
              <a:t>    food_type = pick_food_type()</a:t>
            </a:r>
          </a:p>
          <a:p>
            <a:pPr>
              <a:spcAft>
                <a:spcPts val="200"/>
              </a:spcAft>
              <a:defRPr sz="1100">
                <a:solidFill>
                  <a:srgbClr val="80FF80"/>
                </a:solidFill>
                <a:latin typeface="Consolas"/>
              </a:defRPr>
            </a:pPr>
            <a:r>
              <a:t>    food_spawn_time = current_time</a:t>
            </a:r>
          </a:p>
          <a:p>
            <a:pPr>
              <a:spcAft>
                <a:spcPts val="200"/>
              </a:spcAft>
              <a:defRPr sz="1100">
                <a:solidFill>
                  <a:srgbClr val="80FF80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80FF80"/>
                </a:solidFill>
                <a:latin typeface="Consolas"/>
              </a:defRPr>
            </a:pPr>
            <a:r>
              <a:t># полоска таймера (зелёная → красная)</a:t>
            </a:r>
          </a:p>
          <a:p>
            <a:pPr>
              <a:spcAft>
                <a:spcPts val="200"/>
              </a:spcAft>
              <a:defRPr sz="1100">
                <a:solidFill>
                  <a:srgbClr val="80FF80"/>
                </a:solidFill>
                <a:latin typeface="Consolas"/>
              </a:defRPr>
            </a:pPr>
            <a:r>
              <a:t>ratio = max(0, 1.0 - elapsed /</a:t>
            </a:r>
          </a:p>
          <a:p>
            <a:pPr>
              <a:spcAft>
                <a:spcPts val="200"/>
              </a:spcAft>
              <a:defRPr sz="1100">
                <a:solidFill>
                  <a:srgbClr val="80FF80"/>
                </a:solidFill>
                <a:latin typeface="Consolas"/>
              </a:defRPr>
            </a:pPr>
            <a:r>
              <a:t>    food_type["lifetime_ms"])</a:t>
            </a:r>
          </a:p>
          <a:p>
            <a:pPr>
              <a:spcAft>
                <a:spcPts val="200"/>
              </a:spcAft>
              <a:defRPr sz="1100">
                <a:solidFill>
                  <a:srgbClr val="80FF80"/>
                </a:solidFill>
                <a:latin typeface="Consolas"/>
              </a:defRPr>
            </a:pPr>
            <a:r>
              <a:t>bar_color = (int(255*(1-ratio)),</a:t>
            </a:r>
          </a:p>
          <a:p>
            <a:pPr>
              <a:spcAft>
                <a:spcPts val="200"/>
              </a:spcAft>
              <a:defRPr sz="1100">
                <a:solidFill>
                  <a:srgbClr val="80FF80"/>
                </a:solidFill>
                <a:latin typeface="Consolas"/>
              </a:defRPr>
            </a:pPr>
            <a:r>
              <a:t>             int(255*ratio), 0)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Practice 11 — Paint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1828800" cy="36576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BBBBCC"/>
                </a:solidFill>
                <a:latin typeface="Segoe UI"/>
              </a:defRPr>
            </a:pPr>
            <a:r>
              <a:t>▸  4 новые фигуры: квадрат, пр. треугольник, равн. треугольник, ромб</a:t>
            </a:r>
          </a:p>
          <a:p>
            <a:pPr>
              <a:spcAft>
                <a:spcPts val="600"/>
              </a:spcAft>
              <a:defRPr sz="1600">
                <a:solidFill>
                  <a:srgbClr val="BBBBCC"/>
                </a:solidFill>
                <a:latin typeface="Segoe UI"/>
              </a:defRPr>
            </a:pPr>
            <a:r>
              <a:t>▸  GUI-панель: 8 кнопок инструментов + 8 цветов</a:t>
            </a:r>
          </a:p>
          <a:p>
            <a:pPr>
              <a:spcAft>
                <a:spcPts val="600"/>
              </a:spcAft>
              <a:defRPr sz="1600">
                <a:solidFill>
                  <a:srgbClr val="BBBBCC"/>
                </a:solidFill>
                <a:latin typeface="Segoe UI"/>
              </a:defRPr>
            </a:pPr>
            <a:r>
              <a:t>▸  Непрерывный карандаш (line segments)</a:t>
            </a:r>
          </a:p>
          <a:p>
            <a:pPr>
              <a:spcAft>
                <a:spcPts val="600"/>
              </a:spcAft>
              <a:defRPr sz="1600">
                <a:solidFill>
                  <a:srgbClr val="BBBBCC"/>
                </a:solidFill>
                <a:latin typeface="Segoe UI"/>
              </a:defRPr>
            </a:pPr>
            <a:r>
              <a:t>▸  Предпросмотр фигур при перетаскивании</a:t>
            </a:r>
          </a:p>
          <a:p>
            <a:pPr>
              <a:spcAft>
                <a:spcPts val="600"/>
              </a:spcAft>
              <a:defRPr sz="1600">
                <a:solidFill>
                  <a:srgbClr val="BBBBCC"/>
                </a:solidFill>
                <a:latin typeface="Segoe UI"/>
              </a:defRPr>
            </a:pPr>
            <a:r>
              <a:t>▸  Горячие клавиши (1–8, R/G/B/Y) + GUI</a:t>
            </a:r>
          </a:p>
          <a:p>
            <a:pPr>
              <a:spcAft>
                <a:spcPts val="600"/>
              </a:spcAft>
              <a:defRPr sz="1600">
                <a:solidFill>
                  <a:srgbClr val="BBBBCC"/>
                </a:solidFill>
                <a:latin typeface="Segoe UI"/>
              </a:defRPr>
            </a:pPr>
            <a:r>
              <a:t>▸  Размер кисти: клавиши +/−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0" y="1371600"/>
            <a:ext cx="5303520" cy="4572000"/>
          </a:xfrm>
          <a:prstGeom prst="rect">
            <a:avLst/>
          </a:prstGeom>
          <a:solidFill>
            <a:srgbClr val="0D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508760"/>
            <a:ext cx="49377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80FF80"/>
                </a:solidFill>
                <a:latin typeface="Consolas"/>
              </a:defRPr>
            </a:pPr>
            <a:r>
              <a:t>def build_shape(tool, x1, y1, x2, y2):</a:t>
            </a:r>
          </a:p>
          <a:p>
            <a:pPr>
              <a:spcAft>
                <a:spcPts val="200"/>
              </a:spcAft>
              <a:defRPr sz="1100">
                <a:solidFill>
                  <a:srgbClr val="80FF80"/>
                </a:solidFill>
                <a:latin typeface="Consolas"/>
              </a:defRPr>
            </a:pPr>
            <a:r>
              <a:t>    if tool == "square":</a:t>
            </a:r>
          </a:p>
          <a:p>
            <a:pPr>
              <a:spcAft>
                <a:spcPts val="200"/>
              </a:spcAft>
              <a:defRPr sz="1100">
                <a:solidFill>
                  <a:srgbClr val="80FF80"/>
                </a:solidFill>
                <a:latin typeface="Consolas"/>
              </a:defRPr>
            </a:pPr>
            <a:r>
              <a:t>        side = max(abs(x2-x1),</a:t>
            </a:r>
          </a:p>
          <a:p>
            <a:pPr>
              <a:spcAft>
                <a:spcPts val="200"/>
              </a:spcAft>
              <a:defRPr sz="1100">
                <a:solidFill>
                  <a:srgbClr val="80FF80"/>
                </a:solidFill>
                <a:latin typeface="Consolas"/>
              </a:defRPr>
            </a:pPr>
            <a:r>
              <a:t>                   abs(y2-y1))</a:t>
            </a:r>
          </a:p>
          <a:p>
            <a:pPr>
              <a:spcAft>
                <a:spcPts val="200"/>
              </a:spcAft>
              <a:defRPr sz="1100">
                <a:solidFill>
                  <a:srgbClr val="80FF80"/>
                </a:solidFill>
                <a:latin typeface="Consolas"/>
              </a:defRPr>
            </a:pPr>
            <a:r>
              <a:t>        return ("rect",</a:t>
            </a:r>
          </a:p>
          <a:p>
            <a:pPr>
              <a:spcAft>
                <a:spcPts val="200"/>
              </a:spcAft>
              <a:defRPr sz="1100">
                <a:solidFill>
                  <a:srgbClr val="80FF80"/>
                </a:solidFill>
                <a:latin typeface="Consolas"/>
              </a:defRPr>
            </a:pPr>
            <a:r>
              <a:t>                pygame.Rect(...))</a:t>
            </a:r>
          </a:p>
          <a:p>
            <a:pPr>
              <a:spcAft>
                <a:spcPts val="200"/>
              </a:spcAft>
              <a:defRPr sz="1100">
                <a:solidFill>
                  <a:srgbClr val="80FF80"/>
                </a:solidFill>
                <a:latin typeface="Consolas"/>
              </a:defRPr>
            </a:pPr>
            <a:r>
              <a:t>    elif tool == "eq_tri":</a:t>
            </a:r>
          </a:p>
          <a:p>
            <a:pPr>
              <a:spcAft>
                <a:spcPts val="200"/>
              </a:spcAft>
              <a:defRPr sz="1100">
                <a:solidFill>
                  <a:srgbClr val="80FF80"/>
                </a:solidFill>
                <a:latin typeface="Consolas"/>
              </a:defRPr>
            </a:pPr>
            <a:r>
              <a:t>        h = int(side * sqrt(3) / 2)</a:t>
            </a:r>
          </a:p>
          <a:p>
            <a:pPr>
              <a:spcAft>
                <a:spcPts val="200"/>
              </a:spcAft>
              <a:defRPr sz="1100">
                <a:solidFill>
                  <a:srgbClr val="80FF80"/>
                </a:solidFill>
                <a:latin typeface="Consolas"/>
              </a:defRPr>
            </a:pPr>
            <a:r>
              <a:t>        return ("polygon",</a:t>
            </a:r>
          </a:p>
          <a:p>
            <a:pPr>
              <a:spcAft>
                <a:spcPts val="200"/>
              </a:spcAft>
              <a:defRPr sz="1100">
                <a:solidFill>
                  <a:srgbClr val="80FF80"/>
                </a:solidFill>
                <a:latin typeface="Consolas"/>
              </a:defRPr>
            </a:pPr>
            <a:r>
              <a:t>                [p1, p2, apex])</a:t>
            </a:r>
          </a:p>
          <a:p>
            <a:pPr>
              <a:spcAft>
                <a:spcPts val="200"/>
              </a:spcAft>
              <a:defRPr sz="1100">
                <a:solidFill>
                  <a:srgbClr val="80FF80"/>
                </a:solidFill>
                <a:latin typeface="Consolas"/>
              </a:defRPr>
            </a:pPr>
            <a:r>
              <a:t>    elif tool == "rhombus":</a:t>
            </a:r>
          </a:p>
          <a:p>
            <a:pPr>
              <a:spcAft>
                <a:spcPts val="200"/>
              </a:spcAft>
              <a:defRPr sz="1100">
                <a:solidFill>
                  <a:srgbClr val="80FF80"/>
                </a:solidFill>
                <a:latin typeface="Consolas"/>
              </a:defRPr>
            </a:pPr>
            <a:r>
              <a:t>        return ("polygon",</a:t>
            </a:r>
          </a:p>
          <a:p>
            <a:pPr>
              <a:spcAft>
                <a:spcPts val="200"/>
              </a:spcAft>
              <a:defRPr sz="1100">
                <a:solidFill>
                  <a:srgbClr val="80FF80"/>
                </a:solidFill>
                <a:latin typeface="Consolas"/>
              </a:defRPr>
            </a:pPr>
            <a:r>
              <a:t>                [top, right, bot, left])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  <a:latin typeface="Segoe UI"/>
              </a:defRPr>
            </a:pPr>
            <a:r>
              <a:t>TSIS 1–4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3832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8888AA"/>
                </a:solidFill>
                <a:latin typeface="Segoe UI"/>
              </a:defRPr>
            </a:pPr>
            <a:r>
              <a:t>Курсовые задания — базы данных, расширенные игры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TSIS 1 — PhoneBook (PostgreSQL)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1828800" cy="36576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BBBBCC"/>
                </a:solidFill>
                <a:latin typeface="Segoe UI"/>
              </a:defRPr>
            </a:pPr>
            <a:r>
              <a:t>▸  12 пунктов меню: CRUD, поиск, фильтр, сортировка</a:t>
            </a:r>
          </a:p>
          <a:p>
            <a:pPr>
              <a:spcAft>
                <a:spcPts val="600"/>
              </a:spcAft>
              <a:defRPr sz="1600">
                <a:solidFill>
                  <a:srgbClr val="BBBBCC"/>
                </a:solidFill>
                <a:latin typeface="Segoe UI"/>
              </a:defRPr>
            </a:pPr>
            <a:r>
              <a:t>▸  Расширенная модель: email, birthday, группы, несколько телефонов</a:t>
            </a:r>
          </a:p>
          <a:p>
            <a:pPr>
              <a:spcAft>
                <a:spcPts val="600"/>
              </a:spcAft>
              <a:defRPr sz="1600">
                <a:solidFill>
                  <a:srgbClr val="BBBBCC"/>
                </a:solidFill>
                <a:latin typeface="Segoe UI"/>
              </a:defRPr>
            </a:pPr>
            <a:r>
              <a:t>▸  Хранимые процедуры: upsert_contact, add_phone, move_to_group</a:t>
            </a:r>
          </a:p>
          <a:p>
            <a:pPr>
              <a:spcAft>
                <a:spcPts val="600"/>
              </a:spcAft>
              <a:defRPr sz="1600">
                <a:solidFill>
                  <a:srgbClr val="BBBBCC"/>
                </a:solidFill>
                <a:latin typeface="Segoe UI"/>
              </a:defRPr>
            </a:pPr>
            <a:r>
              <a:t>▸  Функции: search_contacts (ILIKE), get_contacts_paginated</a:t>
            </a:r>
          </a:p>
          <a:p>
            <a:pPr>
              <a:spcAft>
                <a:spcPts val="600"/>
              </a:spcAft>
              <a:defRPr sz="1600">
                <a:solidFill>
                  <a:srgbClr val="BBBBCC"/>
                </a:solidFill>
                <a:latin typeface="Segoe UI"/>
              </a:defRPr>
            </a:pPr>
            <a:r>
              <a:t>▸  Импорт CSV и JSON с обработкой дубликатов</a:t>
            </a:r>
          </a:p>
          <a:p>
            <a:pPr>
              <a:spcAft>
                <a:spcPts val="600"/>
              </a:spcAft>
              <a:defRPr sz="1600">
                <a:solidFill>
                  <a:srgbClr val="BBBBCC"/>
                </a:solidFill>
                <a:latin typeface="Segoe UI"/>
              </a:defRPr>
            </a:pPr>
            <a:r>
              <a:t>▸  Экспорт контактов в JSON</a:t>
            </a:r>
          </a:p>
          <a:p>
            <a:pPr>
              <a:spcAft>
                <a:spcPts val="600"/>
              </a:spcAft>
              <a:defRPr sz="1600">
                <a:solidFill>
                  <a:srgbClr val="BBBBCC"/>
                </a:solidFill>
                <a:latin typeface="Segoe UI"/>
              </a:defRPr>
            </a:pPr>
            <a:r>
              <a:t>▸  Постраничный просмотр (next / prev / quit)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0" y="1371600"/>
            <a:ext cx="5303520" cy="4572000"/>
          </a:xfrm>
          <a:prstGeom prst="rect">
            <a:avLst/>
          </a:prstGeom>
          <a:solidFill>
            <a:srgbClr val="0D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508760"/>
            <a:ext cx="49377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80FF80"/>
                </a:solidFill>
                <a:latin typeface="Consolas"/>
              </a:defRPr>
            </a:pPr>
            <a:r>
              <a:t>-- группы контактов</a:t>
            </a:r>
          </a:p>
          <a:p>
            <a:pPr>
              <a:spcAft>
                <a:spcPts val="200"/>
              </a:spcAft>
              <a:defRPr sz="1100">
                <a:solidFill>
                  <a:srgbClr val="80FF80"/>
                </a:solidFill>
                <a:latin typeface="Consolas"/>
              </a:defRPr>
            </a:pPr>
            <a:r>
              <a:t>CREATE TABLE groups (</a:t>
            </a:r>
          </a:p>
          <a:p>
            <a:pPr>
              <a:spcAft>
                <a:spcPts val="200"/>
              </a:spcAft>
              <a:defRPr sz="1100">
                <a:solidFill>
                  <a:srgbClr val="80FF80"/>
                </a:solidFill>
                <a:latin typeface="Consolas"/>
              </a:defRPr>
            </a:pPr>
            <a:r>
              <a:t>    id SERIAL PRIMARY KEY,</a:t>
            </a:r>
          </a:p>
          <a:p>
            <a:pPr>
              <a:spcAft>
                <a:spcPts val="200"/>
              </a:spcAft>
              <a:defRPr sz="1100">
                <a:solidFill>
                  <a:srgbClr val="80FF80"/>
                </a:solidFill>
                <a:latin typeface="Consolas"/>
              </a:defRPr>
            </a:pPr>
            <a:r>
              <a:t>    name VARCHAR(100) UNIQUE</a:t>
            </a:r>
          </a:p>
          <a:p>
            <a:pPr>
              <a:spcAft>
                <a:spcPts val="200"/>
              </a:spcAft>
              <a:defRPr sz="1100">
                <a:solidFill>
                  <a:srgbClr val="80FF80"/>
                </a:solidFill>
                <a:latin typeface="Consolas"/>
              </a:defRPr>
            </a:pPr>
            <a:r>
              <a:t>);</a:t>
            </a:r>
          </a:p>
          <a:p>
            <a:pPr>
              <a:spcAft>
                <a:spcPts val="200"/>
              </a:spcAft>
              <a:defRPr sz="1100">
                <a:solidFill>
                  <a:srgbClr val="80FF80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80FF80"/>
                </a:solidFill>
                <a:latin typeface="Consolas"/>
              </a:defRPr>
            </a:pPr>
            <a:r>
              <a:t>-- несколько телефонов</a:t>
            </a:r>
          </a:p>
          <a:p>
            <a:pPr>
              <a:spcAft>
                <a:spcPts val="200"/>
              </a:spcAft>
              <a:defRPr sz="1100">
                <a:solidFill>
                  <a:srgbClr val="80FF80"/>
                </a:solidFill>
                <a:latin typeface="Consolas"/>
              </a:defRPr>
            </a:pPr>
            <a:r>
              <a:t>CREATE TABLE phones (</a:t>
            </a:r>
          </a:p>
          <a:p>
            <a:pPr>
              <a:spcAft>
                <a:spcPts val="200"/>
              </a:spcAft>
              <a:defRPr sz="1100">
                <a:solidFill>
                  <a:srgbClr val="80FF80"/>
                </a:solidFill>
                <a:latin typeface="Consolas"/>
              </a:defRPr>
            </a:pPr>
            <a:r>
              <a:t>    id SERIAL PRIMARY KEY,</a:t>
            </a:r>
          </a:p>
          <a:p>
            <a:pPr>
              <a:spcAft>
                <a:spcPts val="200"/>
              </a:spcAft>
              <a:defRPr sz="1100">
                <a:solidFill>
                  <a:srgbClr val="80FF80"/>
                </a:solidFill>
                <a:latin typeface="Consolas"/>
              </a:defRPr>
            </a:pPr>
            <a:r>
              <a:t>    contact_id INTEGER</a:t>
            </a:r>
          </a:p>
          <a:p>
            <a:pPr>
              <a:spcAft>
                <a:spcPts val="200"/>
              </a:spcAft>
              <a:defRPr sz="1100">
                <a:solidFill>
                  <a:srgbClr val="80FF80"/>
                </a:solidFill>
                <a:latin typeface="Consolas"/>
              </a:defRPr>
            </a:pPr>
            <a:r>
              <a:t>        REFERENCES phonebook(contact_id),</a:t>
            </a:r>
          </a:p>
          <a:p>
            <a:pPr>
              <a:spcAft>
                <a:spcPts val="200"/>
              </a:spcAft>
              <a:defRPr sz="1100">
                <a:solidFill>
                  <a:srgbClr val="80FF80"/>
                </a:solidFill>
                <a:latin typeface="Consolas"/>
              </a:defRPr>
            </a:pPr>
            <a:r>
              <a:t>    phone VARCHAR(20) NOT NULL,</a:t>
            </a:r>
          </a:p>
          <a:p>
            <a:pPr>
              <a:spcAft>
                <a:spcPts val="200"/>
              </a:spcAft>
              <a:defRPr sz="1100">
                <a:solidFill>
                  <a:srgbClr val="80FF80"/>
                </a:solidFill>
                <a:latin typeface="Consolas"/>
              </a:defRPr>
            </a:pPr>
            <a:r>
              <a:t>    type VARCHAR(10)</a:t>
            </a:r>
          </a:p>
          <a:p>
            <a:pPr>
              <a:spcAft>
                <a:spcPts val="200"/>
              </a:spcAft>
              <a:defRPr sz="1100">
                <a:solidFill>
                  <a:srgbClr val="80FF80"/>
                </a:solidFill>
                <a:latin typeface="Consolas"/>
              </a:defRPr>
            </a:pPr>
            <a:r>
              <a:t>        CHECK (type IN</a:t>
            </a:r>
          </a:p>
          <a:p>
            <a:pPr>
              <a:spcAft>
                <a:spcPts val="200"/>
              </a:spcAft>
              <a:defRPr sz="1100">
                <a:solidFill>
                  <a:srgbClr val="80FF80"/>
                </a:solidFill>
                <a:latin typeface="Consolas"/>
              </a:defRPr>
            </a:pPr>
            <a:r>
              <a:t>          ('home','work','mobile'))</a:t>
            </a:r>
          </a:p>
          <a:p>
            <a:pPr>
              <a:spcAft>
                <a:spcPts val="200"/>
              </a:spcAft>
              <a:defRPr sz="1100">
                <a:solidFill>
                  <a:srgbClr val="80FF80"/>
                </a:solidFill>
                <a:latin typeface="Consolas"/>
              </a:defRPr>
            </a:pPr>
            <a:r>
              <a:t>);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TSIS 2 — Paint Extended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1828800" cy="36576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BBBBCC"/>
                </a:solidFill>
                <a:latin typeface="Segoe UI"/>
              </a:defRPr>
            </a:pPr>
            <a:r>
              <a:t>▸  11 инструментов: карандаш, линия, круг, прямоугольник,</a:t>
            </a:r>
          </a:p>
          <a:p>
            <a:pPr>
              <a:spcAft>
                <a:spcPts val="600"/>
              </a:spcAft>
              <a:defRPr sz="1600">
                <a:solidFill>
                  <a:srgbClr val="BBBBCC"/>
                </a:solidFill>
                <a:latin typeface="Segoe UI"/>
              </a:defRPr>
            </a:pPr>
            <a:r>
              <a:t>▸    квадрат, 2 вида треугольников, ромб, ластик, заливка, текст</a:t>
            </a:r>
          </a:p>
          <a:p>
            <a:pPr>
              <a:spcAft>
                <a:spcPts val="600"/>
              </a:spcAft>
              <a:defRPr sz="1600">
                <a:solidFill>
                  <a:srgbClr val="BBBBCC"/>
                </a:solidFill>
                <a:latin typeface="Segoe UI"/>
              </a:defRPr>
            </a:pPr>
            <a:r>
              <a:t>▸  Заливка (flood fill) — BFS через get_at() / set_at()</a:t>
            </a:r>
          </a:p>
          <a:p>
            <a:pPr>
              <a:spcAft>
                <a:spcPts val="600"/>
              </a:spcAft>
              <a:defRPr sz="1600">
                <a:solidFill>
                  <a:srgbClr val="BBBBCC"/>
                </a:solidFill>
                <a:latin typeface="Segoe UI"/>
              </a:defRPr>
            </a:pPr>
            <a:r>
              <a:t>▸  Текстовый инструмент: клик → набор → Enter</a:t>
            </a:r>
          </a:p>
          <a:p>
            <a:pPr>
              <a:spcAft>
                <a:spcPts val="600"/>
              </a:spcAft>
              <a:defRPr sz="1600">
                <a:solidFill>
                  <a:srgbClr val="BBBBCC"/>
                </a:solidFill>
                <a:latin typeface="Segoe UI"/>
              </a:defRPr>
            </a:pPr>
            <a:r>
              <a:t>▸  3 размера кисти: 2px / 5px / 10px (кнопки)</a:t>
            </a:r>
          </a:p>
          <a:p>
            <a:pPr>
              <a:spcAft>
                <a:spcPts val="600"/>
              </a:spcAft>
              <a:defRPr sz="1600">
                <a:solidFill>
                  <a:srgbClr val="BBBBCC"/>
                </a:solidFill>
                <a:latin typeface="Segoe UI"/>
              </a:defRPr>
            </a:pPr>
            <a:r>
              <a:t>▸  Ctrl+S — сохранение PNG с меткой времени</a:t>
            </a:r>
          </a:p>
          <a:p>
            <a:pPr>
              <a:spcAft>
                <a:spcPts val="600"/>
              </a:spcAft>
              <a:defRPr sz="1600">
                <a:solidFill>
                  <a:srgbClr val="BBBBCC"/>
                </a:solidFill>
                <a:latin typeface="Segoe UI"/>
              </a:defRPr>
            </a:pPr>
            <a:r>
              <a:t>▸  GUI-панель с подсветкой активного инструмента</a:t>
            </a:r>
          </a:p>
          <a:p>
            <a:pPr>
              <a:spcAft>
                <a:spcPts val="600"/>
              </a:spcAft>
              <a:defRPr sz="1600">
                <a:solidFill>
                  <a:srgbClr val="BBBBCC"/>
                </a:solidFill>
                <a:latin typeface="Segoe UI"/>
              </a:defRPr>
            </a:pPr>
            <a:r>
              <a:t>▸  Предпросмотр всех фигур в реальном времени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0" y="1371600"/>
            <a:ext cx="5303520" cy="4572000"/>
          </a:xfrm>
          <a:prstGeom prst="rect">
            <a:avLst/>
          </a:prstGeom>
          <a:solidFill>
            <a:srgbClr val="0D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508760"/>
            <a:ext cx="49377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80FF80"/>
                </a:solidFill>
                <a:latin typeface="Consolas"/>
              </a:defRPr>
            </a:pPr>
            <a:r>
              <a:t>def flood_fill(surface, x, y, color):</a:t>
            </a:r>
          </a:p>
          <a:p>
            <a:pPr>
              <a:spcAft>
                <a:spcPts val="200"/>
              </a:spcAft>
              <a:defRPr sz="1100">
                <a:solidFill>
                  <a:srgbClr val="80FF80"/>
                </a:solidFill>
                <a:latin typeface="Consolas"/>
              </a:defRPr>
            </a:pPr>
            <a:r>
              <a:t>    target = surface.get_at((x, y))</a:t>
            </a:r>
          </a:p>
          <a:p>
            <a:pPr>
              <a:spcAft>
                <a:spcPts val="200"/>
              </a:spcAft>
              <a:defRPr sz="1100">
                <a:solidFill>
                  <a:srgbClr val="80FF80"/>
                </a:solidFill>
                <a:latin typeface="Consolas"/>
              </a:defRPr>
            </a:pPr>
            <a:r>
              <a:t>    queue = deque([(x, y)])</a:t>
            </a:r>
          </a:p>
          <a:p>
            <a:pPr>
              <a:spcAft>
                <a:spcPts val="200"/>
              </a:spcAft>
              <a:defRPr sz="1100">
                <a:solidFill>
                  <a:srgbClr val="80FF80"/>
                </a:solidFill>
                <a:latin typeface="Consolas"/>
              </a:defRPr>
            </a:pPr>
            <a:r>
              <a:t>    visited = {(x, y)}</a:t>
            </a:r>
          </a:p>
          <a:p>
            <a:pPr>
              <a:spcAft>
                <a:spcPts val="200"/>
              </a:spcAft>
              <a:defRPr sz="1100">
                <a:solidFill>
                  <a:srgbClr val="80FF80"/>
                </a:solidFill>
                <a:latin typeface="Consolas"/>
              </a:defRPr>
            </a:pPr>
            <a:r>
              <a:t>    while queue:</a:t>
            </a:r>
          </a:p>
          <a:p>
            <a:pPr>
              <a:spcAft>
                <a:spcPts val="200"/>
              </a:spcAft>
              <a:defRPr sz="1100">
                <a:solidFill>
                  <a:srgbClr val="80FF80"/>
                </a:solidFill>
                <a:latin typeface="Consolas"/>
              </a:defRPr>
            </a:pPr>
            <a:r>
              <a:t>        x, y = queue.popleft()</a:t>
            </a:r>
          </a:p>
          <a:p>
            <a:pPr>
              <a:spcAft>
                <a:spcPts val="200"/>
              </a:spcAft>
              <a:defRPr sz="1100">
                <a:solidFill>
                  <a:srgbClr val="80FF80"/>
                </a:solidFill>
                <a:latin typeface="Consolas"/>
              </a:defRPr>
            </a:pPr>
            <a:r>
              <a:t>        if surface.get_at((x,y)) != target:</a:t>
            </a:r>
          </a:p>
          <a:p>
            <a:pPr>
              <a:spcAft>
                <a:spcPts val="200"/>
              </a:spcAft>
              <a:defRPr sz="1100">
                <a:solidFill>
                  <a:srgbClr val="80FF80"/>
                </a:solidFill>
                <a:latin typeface="Consolas"/>
              </a:defRPr>
            </a:pPr>
            <a:r>
              <a:t>            continue</a:t>
            </a:r>
          </a:p>
          <a:p>
            <a:pPr>
              <a:spcAft>
                <a:spcPts val="200"/>
              </a:spcAft>
              <a:defRPr sz="1100">
                <a:solidFill>
                  <a:srgbClr val="80FF80"/>
                </a:solidFill>
                <a:latin typeface="Consolas"/>
              </a:defRPr>
            </a:pPr>
            <a:r>
              <a:t>        surface.set_at((x, y), color)</a:t>
            </a:r>
          </a:p>
          <a:p>
            <a:pPr>
              <a:spcAft>
                <a:spcPts val="200"/>
              </a:spcAft>
              <a:defRPr sz="1100">
                <a:solidFill>
                  <a:srgbClr val="80FF80"/>
                </a:solidFill>
                <a:latin typeface="Consolas"/>
              </a:defRPr>
            </a:pPr>
            <a:r>
              <a:t>        for dx, dy in [(-1,0),(1,0),</a:t>
            </a:r>
          </a:p>
          <a:p>
            <a:pPr>
              <a:spcAft>
                <a:spcPts val="200"/>
              </a:spcAft>
              <a:defRPr sz="1100">
                <a:solidFill>
                  <a:srgbClr val="80FF80"/>
                </a:solidFill>
                <a:latin typeface="Consolas"/>
              </a:defRPr>
            </a:pPr>
            <a:r>
              <a:t>                       (0,-1),(0,1)]:</a:t>
            </a:r>
          </a:p>
          <a:p>
            <a:pPr>
              <a:spcAft>
                <a:spcPts val="200"/>
              </a:spcAft>
              <a:defRPr sz="1100">
                <a:solidFill>
                  <a:srgbClr val="80FF80"/>
                </a:solidFill>
                <a:latin typeface="Consolas"/>
              </a:defRPr>
            </a:pPr>
            <a:r>
              <a:t>            nx, ny = x+dx, y+dy</a:t>
            </a:r>
          </a:p>
          <a:p>
            <a:pPr>
              <a:spcAft>
                <a:spcPts val="200"/>
              </a:spcAft>
              <a:defRPr sz="1100">
                <a:solidFill>
                  <a:srgbClr val="80FF80"/>
                </a:solidFill>
                <a:latin typeface="Consolas"/>
              </a:defRPr>
            </a:pPr>
            <a:r>
              <a:t>            if (nx,ny) not in visited:</a:t>
            </a:r>
          </a:p>
          <a:p>
            <a:pPr>
              <a:spcAft>
                <a:spcPts val="200"/>
              </a:spcAft>
              <a:defRPr sz="1100">
                <a:solidFill>
                  <a:srgbClr val="80FF80"/>
                </a:solidFill>
                <a:latin typeface="Consolas"/>
              </a:defRPr>
            </a:pPr>
            <a:r>
              <a:t>                visited.add((nx,ny))</a:t>
            </a:r>
          </a:p>
          <a:p>
            <a:pPr>
              <a:spcAft>
                <a:spcPts val="200"/>
              </a:spcAft>
              <a:defRPr sz="1100">
                <a:solidFill>
                  <a:srgbClr val="80FF80"/>
                </a:solidFill>
                <a:latin typeface="Consolas"/>
              </a:defRPr>
            </a:pPr>
            <a:r>
              <a:t>                queue.append((nx,ny))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TSIS 3 — Racer Advanced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1828800" cy="36576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BBBBCC"/>
                </a:solidFill>
                <a:latin typeface="Segoe UI"/>
              </a:defRPr>
            </a:pPr>
            <a:r>
              <a:t>▸  Встречные машины — Enemy.png + цветное тонирование</a:t>
            </a:r>
          </a:p>
          <a:p>
            <a:pPr>
              <a:spcAft>
                <a:spcPts val="600"/>
              </a:spcAft>
              <a:defRPr sz="1600">
                <a:solidFill>
                  <a:srgbClr val="BBBBCC"/>
                </a:solidFill>
                <a:latin typeface="Segoe UI"/>
              </a:defRPr>
            </a:pPr>
            <a:r>
              <a:t>▸  Препятствия: барьеры, ямы на дороге</a:t>
            </a:r>
          </a:p>
          <a:p>
            <a:pPr>
              <a:spcAft>
                <a:spcPts val="600"/>
              </a:spcAft>
              <a:defRPr sz="1600">
                <a:solidFill>
                  <a:srgbClr val="BBBBCC"/>
                </a:solidFill>
                <a:latin typeface="Segoe UI"/>
              </a:defRPr>
            </a:pPr>
            <a:r>
              <a:t>▸  Ловушки: масло (скольжение), замедление, нитро-полосы</a:t>
            </a:r>
          </a:p>
          <a:p>
            <a:pPr>
              <a:spcAft>
                <a:spcPts val="600"/>
              </a:spcAft>
              <a:defRPr sz="1600">
                <a:solidFill>
                  <a:srgbClr val="BBBBCC"/>
                </a:solidFill>
                <a:latin typeface="Segoe UI"/>
              </a:defRPr>
            </a:pPr>
            <a:r>
              <a:t>▸  3 усиления: Nitro (4с), Shield (1 удар), Repair</a:t>
            </a:r>
          </a:p>
          <a:p>
            <a:pPr>
              <a:spcAft>
                <a:spcPts val="600"/>
              </a:spcAft>
              <a:defRPr sz="1600">
                <a:solidFill>
                  <a:srgbClr val="BBBBCC"/>
                </a:solidFill>
                <a:latin typeface="Segoe UI"/>
              </a:defRPr>
            </a:pPr>
            <a:r>
              <a:t>▸  Монеты: бронза/серебро/золото через Coin.png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37160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BBBBCC"/>
                </a:solidFill>
                <a:latin typeface="Segoe UI"/>
              </a:defRPr>
            </a:pPr>
            <a:r>
              <a:t>▸  Нарастающая сложность каждые 8 сек</a:t>
            </a:r>
          </a:p>
          <a:p>
            <a:pPr>
              <a:spcAft>
                <a:spcPts val="600"/>
              </a:spcAft>
              <a:defRPr sz="1600">
                <a:solidFill>
                  <a:srgbClr val="BBBBCC"/>
                </a:solidFill>
                <a:latin typeface="Segoe UI"/>
              </a:defRPr>
            </a:pPr>
            <a:r>
              <a:t>▸  Машина состояний: Menu → Game → Over → Leaders</a:t>
            </a:r>
          </a:p>
          <a:p>
            <a:pPr>
              <a:spcAft>
                <a:spcPts val="600"/>
              </a:spcAft>
              <a:defRPr sz="1600">
                <a:solidFill>
                  <a:srgbClr val="BBBBCC"/>
                </a:solidFill>
                <a:latin typeface="Segoe UI"/>
              </a:defRPr>
            </a:pPr>
            <a:r>
              <a:t>▸  Настройки: звук, цвет машины, сложность</a:t>
            </a:r>
          </a:p>
          <a:p>
            <a:pPr>
              <a:spcAft>
                <a:spcPts val="600"/>
              </a:spcAft>
              <a:defRPr sz="1600">
                <a:solidFill>
                  <a:srgbClr val="BBBBCC"/>
                </a:solidFill>
                <a:latin typeface="Segoe UI"/>
              </a:defRPr>
            </a:pPr>
            <a:r>
              <a:t>▸  Лидерборд в JSON (топ-10)</a:t>
            </a:r>
          </a:p>
          <a:p>
            <a:pPr>
              <a:spcAft>
                <a:spcPts val="600"/>
              </a:spcAft>
              <a:defRPr sz="1600">
                <a:solidFill>
                  <a:srgbClr val="BBBBCC"/>
                </a:solidFill>
                <a:latin typeface="Segoe UI"/>
              </a:defRPr>
            </a:pPr>
            <a:r>
              <a:t>▸  3 модуля: main.py, ui.py, persistence.py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TSIS 4 — Snake + Database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1828800" cy="36576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BBBBCC"/>
                </a:solidFill>
                <a:latin typeface="Segoe UI"/>
              </a:defRPr>
            </a:pPr>
            <a:r>
              <a:t>▸  PostgreSQL: таблицы players и game_sessions</a:t>
            </a:r>
          </a:p>
          <a:p>
            <a:pPr>
              <a:spcAft>
                <a:spcPts val="600"/>
              </a:spcAft>
              <a:defRPr sz="1600">
                <a:solidFill>
                  <a:srgbClr val="BBBBCC"/>
                </a:solidFill>
                <a:latin typeface="Segoe UI"/>
              </a:defRPr>
            </a:pPr>
            <a:r>
              <a:t>▸  Ядовитая еда — укорачивает на 2, смерть если ≤ 1</a:t>
            </a:r>
          </a:p>
          <a:p>
            <a:pPr>
              <a:spcAft>
                <a:spcPts val="600"/>
              </a:spcAft>
              <a:defRPr sz="1600">
                <a:solidFill>
                  <a:srgbClr val="BBBBCC"/>
                </a:solidFill>
                <a:latin typeface="Segoe UI"/>
              </a:defRPr>
            </a:pPr>
            <a:r>
              <a:t>▸  3 усиления: Speed, Slow, Shield</a:t>
            </a:r>
          </a:p>
          <a:p>
            <a:pPr>
              <a:spcAft>
                <a:spcPts val="600"/>
              </a:spcAft>
              <a:defRPr sz="1600">
                <a:solidFill>
                  <a:srgbClr val="BBBBCC"/>
                </a:solidFill>
                <a:latin typeface="Segoe UI"/>
              </a:defRPr>
            </a:pPr>
            <a:r>
              <a:t>▸  Препятствия с 3-го уровня (стены)</a:t>
            </a:r>
          </a:p>
          <a:p>
            <a:pPr>
              <a:spcAft>
                <a:spcPts val="600"/>
              </a:spcAft>
              <a:defRPr sz="1600">
                <a:solidFill>
                  <a:srgbClr val="BBBBCC"/>
                </a:solidFill>
                <a:latin typeface="Segoe UI"/>
              </a:defRPr>
            </a:pPr>
            <a:r>
              <a:t>▸  Лидерборд + личный рекорд из БД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37160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BBBBCC"/>
                </a:solidFill>
                <a:latin typeface="Segoe UI"/>
              </a:defRPr>
            </a:pPr>
            <a:r>
              <a:t>▸  Graceful degradation: работает и без PostgreSQL</a:t>
            </a:r>
          </a:p>
          <a:p>
            <a:pPr>
              <a:spcAft>
                <a:spcPts val="600"/>
              </a:spcAft>
              <a:defRPr sz="1600">
                <a:solidFill>
                  <a:srgbClr val="BBBBCC"/>
                </a:solidFill>
                <a:latin typeface="Segoe UI"/>
              </a:defRPr>
            </a:pPr>
            <a:r>
              <a:t>▸  6 экранов: меню, имя, игра, конец, лидеры, настройки</a:t>
            </a:r>
          </a:p>
          <a:p>
            <a:pPr>
              <a:spcAft>
                <a:spcPts val="600"/>
              </a:spcAft>
              <a:defRPr sz="1600">
                <a:solidFill>
                  <a:srgbClr val="BBBBCC"/>
                </a:solidFill>
                <a:latin typeface="Segoe UI"/>
              </a:defRPr>
            </a:pPr>
            <a:r>
              <a:t>▸  Настройки: цвет змейки, сетка, звук</a:t>
            </a:r>
          </a:p>
          <a:p>
            <a:pPr>
              <a:spcAft>
                <a:spcPts val="600"/>
              </a:spcAft>
              <a:defRPr sz="1600">
                <a:solidFill>
                  <a:srgbClr val="BBBBCC"/>
                </a:solidFill>
                <a:latin typeface="Segoe UI"/>
              </a:defRPr>
            </a:pPr>
            <a:r>
              <a:t>▸  Автоматическое создание БД (_create_db.py)</a:t>
            </a:r>
          </a:p>
          <a:p>
            <a:pPr>
              <a:spcAft>
                <a:spcPts val="600"/>
              </a:spcAft>
              <a:defRPr sz="1600">
                <a:solidFill>
                  <a:srgbClr val="BBBBCC"/>
                </a:solidFill>
                <a:latin typeface="Segoe UI"/>
              </a:defRPr>
            </a:pPr>
            <a:r>
              <a:t>▸  Сохранение результатов через psycopg2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Использованные технологии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1828800" cy="36576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BBBBCC"/>
                </a:solidFill>
                <a:latin typeface="Segoe UI"/>
              </a:defRPr>
            </a:pPr>
            <a:r>
              <a:t>▸  Python 3.14 — основной язык</a:t>
            </a:r>
          </a:p>
          <a:p>
            <a:pPr>
              <a:spcAft>
                <a:spcPts val="600"/>
              </a:spcAft>
              <a:defRPr sz="1600">
                <a:solidFill>
                  <a:srgbClr val="BBBBCC"/>
                </a:solidFill>
                <a:latin typeface="Segoe UI"/>
              </a:defRPr>
            </a:pPr>
            <a:r>
              <a:t>▸  Pygame-CE 2.5 — игровой движок (Practice 11, TSIS 2–4)</a:t>
            </a:r>
          </a:p>
          <a:p>
            <a:pPr>
              <a:spcAft>
                <a:spcPts val="600"/>
              </a:spcAft>
              <a:defRPr sz="1600">
                <a:solidFill>
                  <a:srgbClr val="BBBBCC"/>
                </a:solidFill>
                <a:latin typeface="Segoe UI"/>
              </a:defRPr>
            </a:pPr>
            <a:r>
              <a:t>▸  PostgreSQL — реляционная СУБД (TSIS 1, TSIS 4)</a:t>
            </a:r>
          </a:p>
          <a:p>
            <a:pPr>
              <a:spcAft>
                <a:spcPts val="600"/>
              </a:spcAft>
              <a:defRPr sz="1600">
                <a:solidFill>
                  <a:srgbClr val="BBBBCC"/>
                </a:solidFill>
                <a:latin typeface="Segoe UI"/>
              </a:defRPr>
            </a:pPr>
            <a:r>
              <a:t>▸  psycopg2 — драйвер PostgreSQL для Python</a:t>
            </a:r>
          </a:p>
          <a:p>
            <a:pPr>
              <a:spcAft>
                <a:spcPts val="600"/>
              </a:spcAft>
              <a:defRPr sz="1600">
                <a:solidFill>
                  <a:srgbClr val="BBBBCC"/>
                </a:solidFill>
                <a:latin typeface="Segoe UI"/>
              </a:defRPr>
            </a:pPr>
            <a:r>
              <a:t>▸  PL/pgSQL — хранимые процедуры и функции</a:t>
            </a:r>
          </a:p>
          <a:p>
            <a:pPr>
              <a:spcAft>
                <a:spcPts val="600"/>
              </a:spcAft>
              <a:defRPr sz="1600">
                <a:solidFill>
                  <a:srgbClr val="BBBBCC"/>
                </a:solidFill>
                <a:latin typeface="Segoe UI"/>
              </a:defRPr>
            </a:pPr>
            <a:r>
              <a:t>▸  JSON — настройки, лидерборд, импорт/экспорт</a:t>
            </a:r>
          </a:p>
          <a:p>
            <a:pPr>
              <a:spcAft>
                <a:spcPts val="600"/>
              </a:spcAft>
              <a:defRPr sz="1600">
                <a:solidFill>
                  <a:srgbClr val="BBBBCC"/>
                </a:solidFill>
                <a:latin typeface="Segoe UI"/>
              </a:defRPr>
            </a:pPr>
            <a:r>
              <a:t>▸  CSV — импорт контактов</a:t>
            </a:r>
          </a:p>
          <a:p>
            <a:pPr>
              <a:spcAft>
                <a:spcPts val="600"/>
              </a:spcAft>
              <a:defRPr sz="1600">
                <a:solidFill>
                  <a:srgbClr val="BBBBCC"/>
                </a:solidFill>
                <a:latin typeface="Segoe UI"/>
              </a:defRPr>
            </a:pPr>
            <a:r>
              <a:t>▸  Git / GitHub — контроль версий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Безопасность и Git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1828800" cy="36576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BBBBCC"/>
                </a:solidFill>
                <a:latin typeface="Segoe UI"/>
              </a:defRPr>
            </a:pPr>
            <a:r>
              <a:t>▸  .gitignore защищает database.ini (пароли БД)</a:t>
            </a:r>
          </a:p>
          <a:p>
            <a:pPr>
              <a:spcAft>
                <a:spcPts val="600"/>
              </a:spcAft>
              <a:defRPr sz="1600">
                <a:solidFill>
                  <a:srgbClr val="BBBBCC"/>
                </a:solidFill>
                <a:latin typeface="Segoe UI"/>
              </a:defRPr>
            </a:pPr>
            <a:r>
              <a:t>▸  Все *.ini файлы исключены из репозитория</a:t>
            </a:r>
          </a:p>
          <a:p>
            <a:pPr>
              <a:spcAft>
                <a:spcPts val="600"/>
              </a:spcAft>
              <a:defRPr sz="1600">
                <a:solidFill>
                  <a:srgbClr val="BBBBCC"/>
                </a:solidFill>
                <a:latin typeface="Segoe UI"/>
              </a:defRPr>
            </a:pPr>
            <a:r>
              <a:t>▸  Runtime-данные (settings.json, leaderboard.json) не пушатся</a:t>
            </a:r>
          </a:p>
          <a:p>
            <a:pPr>
              <a:spcAft>
                <a:spcPts val="600"/>
              </a:spcAft>
              <a:defRPr sz="1600">
                <a:solidFill>
                  <a:srgbClr val="BBBBCC"/>
                </a:solidFill>
                <a:latin typeface="Segoe UI"/>
              </a:defRPr>
            </a:pPr>
            <a:r>
              <a:t>▸  noreply email для git-коммитов</a:t>
            </a:r>
          </a:p>
          <a:p>
            <a:pPr>
              <a:spcAft>
                <a:spcPts val="600"/>
              </a:spcAft>
              <a:defRPr sz="1600">
                <a:solidFill>
                  <a:srgbClr val="BBBBCC"/>
                </a:solidFill>
                <a:latin typeface="Segoe UI"/>
              </a:defRPr>
            </a:pPr>
            <a:r>
              <a:t>▸  Graceful degradation — игры работают без БД</a:t>
            </a:r>
          </a:p>
          <a:p>
            <a:pPr>
              <a:spcAft>
                <a:spcPts val="600"/>
              </a:spcAft>
              <a:defRPr sz="1600">
                <a:solidFill>
                  <a:srgbClr val="BBBBCC"/>
                </a:solidFill>
                <a:latin typeface="Segoe UI"/>
              </a:defRPr>
            </a:pPr>
            <a:r>
              <a:t>▸  Входные данные валидируются (CSV, JSON импорт)</a:t>
            </a:r>
          </a:p>
          <a:p>
            <a:pPr>
              <a:spcAft>
                <a:spcPts val="600"/>
              </a:spcAft>
              <a:defRPr sz="1600">
                <a:solidFill>
                  <a:srgbClr val="BBBBCC"/>
                </a:solidFill>
                <a:latin typeface="Segoe UI"/>
              </a:defRPr>
            </a:pPr>
            <a:r>
              <a:t>▸  SQL-инъекции предотвращены параметризованными запросами (%s)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0" y="1371600"/>
            <a:ext cx="5303520" cy="4572000"/>
          </a:xfrm>
          <a:prstGeom prst="rect">
            <a:avLst/>
          </a:prstGeom>
          <a:solidFill>
            <a:srgbClr val="0D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508760"/>
            <a:ext cx="49377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80FF80"/>
                </a:solidFill>
                <a:latin typeface="Consolas"/>
              </a:defRPr>
            </a:pPr>
            <a:r>
              <a:t># .gitignore</a:t>
            </a:r>
          </a:p>
          <a:p>
            <a:pPr>
              <a:spcAft>
                <a:spcPts val="200"/>
              </a:spcAft>
              <a:defRPr sz="1100">
                <a:solidFill>
                  <a:srgbClr val="80FF80"/>
                </a:solidFill>
                <a:latin typeface="Consolas"/>
              </a:defRPr>
            </a:pPr>
            <a:r>
              <a:t>database.ini</a:t>
            </a:r>
          </a:p>
          <a:p>
            <a:pPr>
              <a:spcAft>
                <a:spcPts val="200"/>
              </a:spcAft>
              <a:defRPr sz="1100">
                <a:solidFill>
                  <a:srgbClr val="80FF80"/>
                </a:solidFill>
                <a:latin typeface="Consolas"/>
              </a:defRPr>
            </a:pPr>
            <a:r>
              <a:t>*.ini</a:t>
            </a:r>
          </a:p>
          <a:p>
            <a:pPr>
              <a:spcAft>
                <a:spcPts val="200"/>
              </a:spcAft>
              <a:defRPr sz="1100">
                <a:solidFill>
                  <a:srgbClr val="80FF80"/>
                </a:solidFill>
                <a:latin typeface="Consolas"/>
              </a:defRPr>
            </a:pPr>
            <a:r>
              <a:t>contacts_export.json</a:t>
            </a:r>
          </a:p>
          <a:p>
            <a:pPr>
              <a:spcAft>
                <a:spcPts val="200"/>
              </a:spcAft>
              <a:defRPr sz="1100">
                <a:solidFill>
                  <a:srgbClr val="80FF80"/>
                </a:solidFill>
                <a:latin typeface="Consolas"/>
              </a:defRPr>
            </a:pPr>
            <a:r>
              <a:t>leaderboard.json</a:t>
            </a:r>
          </a:p>
          <a:p>
            <a:pPr>
              <a:spcAft>
                <a:spcPts val="200"/>
              </a:spcAft>
              <a:defRPr sz="1100">
                <a:solidFill>
                  <a:srgbClr val="80FF80"/>
                </a:solidFill>
                <a:latin typeface="Consolas"/>
              </a:defRPr>
            </a:pPr>
            <a:r>
              <a:t>settings.json</a:t>
            </a:r>
          </a:p>
          <a:p>
            <a:pPr>
              <a:spcAft>
                <a:spcPts val="200"/>
              </a:spcAft>
              <a:defRPr sz="1100">
                <a:solidFill>
                  <a:srgbClr val="80FF80"/>
                </a:solidFill>
                <a:latin typeface="Consolas"/>
              </a:defRPr>
            </a:pPr>
            <a:r>
              <a:t>canvas_*.png</a:t>
            </a:r>
          </a:p>
          <a:p>
            <a:pPr>
              <a:spcAft>
                <a:spcPts val="200"/>
              </a:spcAft>
              <a:defRPr sz="1100">
                <a:solidFill>
                  <a:srgbClr val="80FF80"/>
                </a:solidFill>
                <a:latin typeface="Consolas"/>
              </a:defRPr>
            </a:pPr>
            <a:r>
              <a:t>__pycache__/</a:t>
            </a:r>
          </a:p>
          <a:p>
            <a:pPr>
              <a:spcAft>
                <a:spcPts val="200"/>
              </a:spcAft>
              <a:defRPr sz="1100">
                <a:solidFill>
                  <a:srgbClr val="80FF80"/>
                </a:solidFill>
                <a:latin typeface="Consolas"/>
              </a:defRPr>
            </a:pPr>
            <a:r>
              <a:t>TSIS+practice11 plan/</a:t>
            </a:r>
          </a:p>
          <a:p>
            <a:pPr>
              <a:spcAft>
                <a:spcPts val="200"/>
              </a:spcAft>
              <a:defRPr sz="1100">
                <a:solidFill>
                  <a:srgbClr val="80FF80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80FF80"/>
                </a:solidFill>
                <a:latin typeface="Consolas"/>
              </a:defRPr>
            </a:pPr>
            <a:r>
              <a:t># параметризованные запросы</a:t>
            </a:r>
          </a:p>
          <a:p>
            <a:pPr>
              <a:spcAft>
                <a:spcPts val="200"/>
              </a:spcAft>
              <a:defRPr sz="1100">
                <a:solidFill>
                  <a:srgbClr val="80FF80"/>
                </a:solidFill>
                <a:latin typeface="Consolas"/>
              </a:defRPr>
            </a:pPr>
            <a:r>
              <a:t>cur.execute(</a:t>
            </a:r>
          </a:p>
          <a:p>
            <a:pPr>
              <a:spcAft>
                <a:spcPts val="200"/>
              </a:spcAft>
              <a:defRPr sz="1100">
                <a:solidFill>
                  <a:srgbClr val="80FF80"/>
                </a:solidFill>
                <a:latin typeface="Consolas"/>
              </a:defRPr>
            </a:pPr>
            <a:r>
              <a:t>    "SELECT * FROM search_contacts(%s)",</a:t>
            </a:r>
          </a:p>
          <a:p>
            <a:pPr>
              <a:spcAft>
                <a:spcPts val="200"/>
              </a:spcAft>
              <a:defRPr sz="1100">
                <a:solidFill>
                  <a:srgbClr val="80FF80"/>
                </a:solidFill>
                <a:latin typeface="Consolas"/>
              </a:defRPr>
            </a:pPr>
            <a:r>
              <a:t>    (pattern,)</a:t>
            </a:r>
          </a:p>
          <a:p>
            <a:pPr>
              <a:spcAft>
                <a:spcPts val="200"/>
              </a:spcAft>
              <a:defRPr sz="1100">
                <a:solidFill>
                  <a:srgbClr val="80FF80"/>
                </a:solidFill>
                <a:latin typeface="Consolas"/>
              </a:defRPr>
            </a:pPr>
            <a:r>
              <a:t>)  # НЕ f-string!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560320"/>
            <a:ext cx="12191695" cy="2286000"/>
          </a:xfrm>
          <a:prstGeom prst="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560320"/>
            <a:ext cx="12191695" cy="54864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92608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Segoe UI"/>
              </a:defRPr>
            </a:pPr>
            <a:r>
              <a:t>Спасибо за внимание!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FD700"/>
                </a:solidFill>
                <a:latin typeface="Segoe UI"/>
              </a:defRPr>
            </a:pPr>
            <a:r>
              <a:t>Вопросы?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6692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8888AA"/>
                </a:solidFill>
                <a:latin typeface="Segoe UI"/>
              </a:defRPr>
            </a:pPr>
            <a:r>
              <a:t>github.com/RedWodoo/PP2_Ali_Kakenov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